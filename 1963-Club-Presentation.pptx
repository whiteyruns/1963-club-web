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B0A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solidFill>
            <a:srgbClr val="000000">
              <a:alpha val="0"/>
            </a:srgbClr>
          </a:solidFill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66344" y="466344"/>
            <a:ext cx="73152" cy="73152"/>
          </a:xfrm>
          <a:prstGeom prst="rect">
            <a:avLst/>
          </a:prstGeom>
          <a:solidFill>
            <a:srgbClr val="C4A26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8604504" y="466344"/>
            <a:ext cx="73152" cy="73152"/>
          </a:xfrm>
          <a:prstGeom prst="rect">
            <a:avLst/>
          </a:prstGeom>
          <a:solidFill>
            <a:srgbClr val="C4A26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466344" y="4604004"/>
            <a:ext cx="73152" cy="73152"/>
          </a:xfrm>
          <a:prstGeom prst="rect">
            <a:avLst/>
          </a:prstGeom>
          <a:solidFill>
            <a:srgbClr val="C4A265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8604504" y="4604004"/>
            <a:ext cx="73152" cy="73152"/>
          </a:xfrm>
          <a:prstGeom prst="rect">
            <a:avLst/>
          </a:prstGeom>
          <a:solidFill>
            <a:srgbClr val="C4A265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C4A265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R I V A T E   M E M B E R S   G A M I N G   &amp;   C O C K T A I L   S A L O 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800" kern="0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L U 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023360" y="3063240"/>
            <a:ext cx="1097280" cy="0"/>
          </a:xfrm>
          <a:prstGeom prst="line">
            <a:avLst/>
          </a:prstGeom>
          <a:noFill/>
          <a:ln w="6350">
            <a:solidFill>
              <a:srgbClr val="C4A265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CC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Room Beneath The Room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B8975A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L   C O R T E Z   ·   L A S   V E G A 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A2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 ·  EL CORTEZ  ·  LAS VEGAS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B0A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solidFill>
            <a:srgbClr val="000000">
              <a:alpha val="0"/>
            </a:srgbClr>
          </a:solidFill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H E   S T O R 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1963. Before Vegas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Went Corporate.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206240" y="1920240"/>
            <a:ext cx="731520" cy="0"/>
          </a:xfrm>
          <a:prstGeom prst="line">
            <a:avLst/>
          </a:prstGeom>
          <a:noFill/>
          <a:ln w="6350">
            <a:solidFill>
              <a:srgbClr val="C4A26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03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was a time when deals were made at small tables. When the bar mattered more than the DJ. When the room was thick with smoke and nobody took photos.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is a return to that era.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291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Inspired by the golden age of Las Vegas and the intimacy of the world's great private clubs, it exists for those who prefer velvet over volume and presence over performance.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A2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 ·  EL CORTEZ  ·  LAS VEGAS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racious-sweet-fermat/mnt/1963-club-web/public/images/98ba765123906284827310cf1b47271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0"/>
            <a:ext cx="1097280" cy="5143500"/>
          </a:xfrm>
          <a:prstGeom prst="rect">
            <a:avLst/>
          </a:prstGeom>
          <a:solidFill>
            <a:srgbClr val="0D0B0A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0" y="548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H E   D I N N E R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57200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Begins Upstairs.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0" y="1463040"/>
            <a:ext cx="548640" cy="0"/>
          </a:xfrm>
          <a:prstGeom prst="line">
            <a:avLst/>
          </a:prstGeom>
          <a:noFill/>
          <a:ln w="6350">
            <a:solidFill>
              <a:srgbClr val="C4A265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0" y="16459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room below, there is the table above. A steakhouse in the El Cortez tradition — prime cuts, candlelight, unhurried service. The kind of dinner where the check is never mentioned and the wine keeps arriving.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0" y="2743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steakhouse is led by Chef David Robbins — Hawaiian-born, globally trained, with a palate shaped by years across Peru, Polynesia, and the great steakhouse traditions of the American West.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dinner is the invitation. The descent is the reward.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A2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 ·  EL CORTEZ  ·  LAS VEGAS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B0A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solidFill>
            <a:srgbClr val="000000">
              <a:alpha val="0"/>
            </a:srgbClr>
          </a:solidFill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H E   A R R I V A 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Descent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206240" y="1691640"/>
            <a:ext cx="731520" cy="0"/>
          </a:xfrm>
          <a:prstGeom prst="line">
            <a:avLst/>
          </a:prstGeom>
          <a:noFill/>
          <a:ln w="6350">
            <a:solidFill>
              <a:srgbClr val="C4A26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92024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 upstairs.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final pour of wine.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question: "Shall we go downstairs?"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private staircase leads to a low-lit foyer.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verified.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solid door opens.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room reveals itself in layers —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all at once.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A2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 ·  EL CORTEZ  ·  LAS VEGAS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B0A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solidFill>
            <a:srgbClr val="000000">
              <a:alpha val="0"/>
            </a:srgbClr>
          </a:solidFill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H E   R O O 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Spending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— and Money.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4,000 square feet of layered intimacy.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474720" cy="0"/>
          </a:xfrm>
          <a:prstGeom prst="line">
            <a:avLst/>
          </a:prstGeom>
          <a:noFill/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379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665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oval bar wrapped in leather and brass. Backlit shelves of rare Scotch, bourbon, and vintage wine. Tableside martini service.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1783080"/>
            <a:ext cx="3474720" cy="0"/>
          </a:xfrm>
          <a:prstGeom prst="line">
            <a:avLst/>
          </a:prstGeom>
          <a:noFill/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379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Baccarat Salon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665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statement table at the center of the room. A private high-limit salon just beyond. Reservations accepted.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24328"/>
            <a:ext cx="3474720" cy="0"/>
          </a:xfrm>
          <a:prstGeom prst="line">
            <a:avLst/>
          </a:prstGeom>
          <a:noFill/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79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Pool Room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077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tournament-grade table. Deep leather seating. Cigars permitted. The kind of game that lasts all night.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624328"/>
            <a:ext cx="3474720" cy="0"/>
          </a:xfrm>
          <a:prstGeom prst="line">
            <a:avLst/>
          </a:prstGeom>
          <a:noFill/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679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Passed Apps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077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Chef Robbins' kitchen sends down wagyu sliders, chilled shellfish, steak tartare, truffle fries. Nothing plated, everything passed.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465576"/>
            <a:ext cx="3474720" cy="0"/>
          </a:xfrm>
          <a:prstGeom prst="line">
            <a:avLst/>
          </a:prstGeom>
          <a:noFill/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Humidor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Climate-controlled. Curated global selection. Member lockers available. A place to sit, smoke, and say nothing for a while.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5034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dance floor. No DJ. No velvet rope.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A2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 ·  EL CORTEZ  ·  LAS VEGAS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racious-sweet-fermat/mnt/1963-club-web/public/images/cc71fcee7fd9e27373f01654bc9b585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0" y="0"/>
            <a:ext cx="1097280" cy="5143500"/>
          </a:xfrm>
          <a:prstGeom prst="rect">
            <a:avLst/>
          </a:prstGeom>
          <a:solidFill>
            <a:srgbClr val="0D0B0A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457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H E   P O U R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Cellar &amp; The Cabinet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48640" cy="0"/>
          </a:xfrm>
          <a:prstGeom prst="line">
            <a:avLst/>
          </a:prstGeom>
          <a:noFill/>
          <a:ln w="6350">
            <a:solidFill>
              <a:srgbClr val="C4A265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program is classic, not clever.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Scotch &amp; Whisky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965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Macallan 25, Dalmore Cigar Malt, closed-distillery bottlings. Poured two fingers at a time.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Bourbon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606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Pappy Van Winkle, George T. Stagg, allocated pours. Ask the bartender what just arrived.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0175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First-growth Bordeaux. Elite Napa Cabernets. Burgundy by the bottle. Large-format magnums.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657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Cocktails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886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Martini. Manhattan. Negroni. Vesper. Old Fashioned. Five drinks, executed precisely.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4577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A26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bartender remembers your drink. The second one arrives without asking.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A2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 ·  EL CORTEZ  ·  LAS VEGAS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B0A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solidFill>
            <a:srgbClr val="000000">
              <a:alpha val="0"/>
            </a:srgbClr>
          </a:solidFill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H E   T A B L 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Gaming, Without the Floor.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206240" y="2057400"/>
            <a:ext cx="731520" cy="0"/>
          </a:xfrm>
          <a:prstGeom prst="line">
            <a:avLst/>
          </a:prstGeom>
          <a:noFill/>
          <a:ln w="6350">
            <a:solidFill>
              <a:srgbClr val="C4A26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is not a public casino. It is a private gaming salon designed for discretion and elevated play.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Baccarat anchors the room.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337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reservations available. No crowds. No chaos. Just felt, chips, and silence when it matters.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A2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 ·  EL CORTEZ  ·  LAS VEGAS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B0A">
              <a:alpha val="8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solidFill>
            <a:srgbClr val="000000">
              <a:alpha val="0"/>
            </a:srgbClr>
          </a:solidFill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H E   C O D 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Is Not Purchased.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Considered.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1691640"/>
            <a:ext cx="731520" cy="0"/>
          </a:xfrm>
          <a:prstGeom prst="line">
            <a:avLst/>
          </a:prstGeom>
          <a:noFill/>
          <a:ln w="6350">
            <a:solidFill>
              <a:srgbClr val="C4A26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operates under a simple code: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194560"/>
            <a:ext cx="2743200" cy="0"/>
          </a:xfrm>
          <a:prstGeom prst="line">
            <a:avLst/>
          </a:prstGeom>
          <a:noFill/>
          <a:ln w="3810">
            <a:solidFill>
              <a:srgbClr val="C4A265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40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3810">
            <a:solidFill>
              <a:srgbClr val="C4A265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3810">
            <a:solidFill>
              <a:srgbClr val="C4A265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photography.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3429000"/>
            <a:ext cx="2743200" cy="0"/>
          </a:xfrm>
          <a:prstGeom prst="line">
            <a:avLst/>
          </a:prstGeom>
          <a:noFill/>
          <a:ln w="3810">
            <a:solidFill>
              <a:srgbClr val="C4A265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Dress expectations enforced.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3810">
            <a:solidFill>
              <a:srgbClr val="C4A265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Referral required.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4251960"/>
            <a:ext cx="2743200" cy="0"/>
          </a:xfrm>
          <a:prstGeom prst="line">
            <a:avLst/>
          </a:prstGeom>
          <a:noFill/>
          <a:ln w="3810">
            <a:solidFill>
              <a:srgbClr val="C4A265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 may host guests.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5034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room exists for those who understand 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A2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 ·  EL CORTEZ  ·  LAS VEGAS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B0A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solidFill>
            <a:srgbClr val="000000">
              <a:alpha val="0"/>
            </a:srgbClr>
          </a:solidFill>
          <a:ln w="3810">
            <a:solidFill>
              <a:srgbClr val="C4A26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66344" y="466344"/>
            <a:ext cx="73152" cy="73152"/>
          </a:xfrm>
          <a:prstGeom prst="rect">
            <a:avLst/>
          </a:prstGeom>
          <a:solidFill>
            <a:srgbClr val="C4A26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8604504" y="466344"/>
            <a:ext cx="73152" cy="73152"/>
          </a:xfrm>
          <a:prstGeom prst="rect">
            <a:avLst/>
          </a:prstGeom>
          <a:solidFill>
            <a:srgbClr val="C4A26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466344" y="4604004"/>
            <a:ext cx="73152" cy="73152"/>
          </a:xfrm>
          <a:prstGeom prst="rect">
            <a:avLst/>
          </a:prstGeom>
          <a:solidFill>
            <a:srgbClr val="C4A265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8604504" y="4604004"/>
            <a:ext cx="73152" cy="73152"/>
          </a:xfrm>
          <a:prstGeom prst="rect">
            <a:avLst/>
          </a:prstGeom>
          <a:solidFill>
            <a:srgbClr val="C4A265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Room Beneath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i="1" dirty="0">
                <a:solidFill>
                  <a:srgbClr val="E8DC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Room.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023360" y="2880360"/>
            <a:ext cx="1097280" cy="0"/>
          </a:xfrm>
          <a:prstGeom prst="line">
            <a:avLst/>
          </a:prstGeom>
          <a:noFill/>
          <a:ln w="6350">
            <a:solidFill>
              <a:srgbClr val="C4A26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B8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R I V A T E   M E M B E R S   S A L O 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B8975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A S   V E G A 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14400" y="44119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B8975A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by Corner Bar Management</a:t>
            </a:r>
            <a:endParaRPr lang="en-US" sz="7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B8975A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cornerbarmgmt.com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4A2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 CLUB  ·  EL CORTEZ  ·  LAS VEGAS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1963 Club - Private Members Gaming &amp; Cocktail Salon</dc:title>
  <dc:subject>Concept Presentation</dc:subject>
  <dc:creator>Corner Bar Management</dc:creator>
  <cp:lastModifiedBy>Corner Bar Management</cp:lastModifiedBy>
  <cp:revision>1</cp:revision>
  <dcterms:created xsi:type="dcterms:W3CDTF">2026-02-20T21:55:22Z</dcterms:created>
  <dcterms:modified xsi:type="dcterms:W3CDTF">2026-02-20T21:55:22Z</dcterms:modified>
</cp:coreProperties>
</file>